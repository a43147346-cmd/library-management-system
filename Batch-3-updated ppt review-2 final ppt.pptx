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4"/>
  </p:notesMasterIdLst>
  <p:sldIdLst>
    <p:sldId id="1758" r:id="rId3"/>
    <p:sldId id="257" r:id="rId4"/>
    <p:sldId id="258" r:id="rId5"/>
    <p:sldId id="259" r:id="rId6"/>
    <p:sldId id="1746" r:id="rId7"/>
    <p:sldId id="1760" r:id="rId8"/>
    <p:sldId id="1756" r:id="rId9"/>
    <p:sldId id="1745" r:id="rId10"/>
    <p:sldId id="1762" r:id="rId11"/>
    <p:sldId id="1754" r:id="rId12"/>
    <p:sldId id="1761" r:id="rId13"/>
    <p:sldId id="1766" r:id="rId14"/>
    <p:sldId id="1767" r:id="rId15"/>
    <p:sldId id="256" r:id="rId16"/>
    <p:sldId id="1770" r:id="rId17"/>
    <p:sldId id="1772" r:id="rId18"/>
    <p:sldId id="1773" r:id="rId19"/>
    <p:sldId id="1774" r:id="rId20"/>
    <p:sldId id="1771" r:id="rId21"/>
    <p:sldId id="265" r:id="rId22"/>
    <p:sldId id="176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A2FB2-F1C8-407C-BBE6-BDAFDE738C07}" v="2" dt="2026-09-29T06:25:05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88" autoAdjust="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59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3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5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7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5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0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4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9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6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03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81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0436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70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3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6934" y="1508514"/>
            <a:ext cx="4937760" cy="6894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rmAutofit/>
          </a:bodyPr>
          <a:lstStyle/>
          <a:p>
            <a:pPr algn="ctr">
              <a:defRPr sz="4000" b="1">
                <a:solidFill>
                  <a:srgbClr val="162334"/>
                </a:solidFill>
                <a:latin typeface="Aptos"/>
              </a:defRPr>
            </a:pPr>
            <a:r>
              <a:rPr dirty="0"/>
              <a:t>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3247" y="1517657"/>
            <a:ext cx="6400800" cy="6894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4000" b="1">
                <a:solidFill>
                  <a:srgbClr val="162334"/>
                </a:solidFill>
                <a:latin typeface="Aptos"/>
              </a:defRPr>
            </a:pPr>
            <a:r>
              <a:rPr dirty="0"/>
              <a:t>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692186"/>
            <a:ext cx="4663440" cy="54864"/>
          </a:xfrm>
          <a:prstGeom prst="rect">
            <a:avLst/>
          </a:prstGeom>
          <a:solidFill>
            <a:srgbClr val="2A6CB4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469907" y="3071412"/>
            <a:ext cx="5029200" cy="3662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rPr dirty="0"/>
              <a:t>DBMS CORNERSTONE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1887" y="3812546"/>
            <a:ext cx="5303520" cy="9971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500" b="0">
                <a:solidFill>
                  <a:srgbClr val="1E2126"/>
                </a:solidFill>
                <a:latin typeface="Aptos"/>
              </a:defRPr>
            </a:pPr>
            <a:r>
              <a:rPr dirty="0"/>
              <a:t>25B11CS437 – K. Akshai Deepak</a:t>
            </a:r>
            <a:br>
              <a:rPr dirty="0"/>
            </a:br>
            <a:r>
              <a:rPr dirty="0"/>
              <a:t>25B11CS724 – P. Thanoj</a:t>
            </a:r>
            <a:br>
              <a:rPr dirty="0"/>
            </a:br>
            <a:r>
              <a:rPr dirty="0"/>
              <a:t>25B11CSA43 – Y. Sai Dinesh</a:t>
            </a:r>
            <a:br>
              <a:rPr dirty="0"/>
            </a:br>
            <a:r>
              <a:rPr dirty="0"/>
              <a:t>25B11CS768 – P. Jaswanth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55080"/>
            <a:ext cx="22860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9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35508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18" name="Image 0" descr="/home/workdir/artifacts/logos/aditya_logo_official.png">
            <a:extLst>
              <a:ext uri="{FF2B5EF4-FFF2-40B4-BE49-F238E27FC236}">
                <a16:creationId xmlns:a16="http://schemas.microsoft.com/office/drawing/2014/main" id="{5C9CB14D-808C-DF04-C726-6494E4422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07" y="214885"/>
            <a:ext cx="6400800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3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OUTLINE OF THE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rPr dirty="0"/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093" y="1051560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161288"/>
            <a:ext cx="502920" cy="38404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600200" y="1143000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51560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143000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984248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075688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Objectives &amp; End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84248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075688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16936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3008376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Entities &amp; Attributes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3008376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Relationships &amp; Cardinalities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49624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959352"/>
            <a:ext cx="502920" cy="38404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600200" y="4000475"/>
            <a:ext cx="3977639" cy="32008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rPr dirty="0"/>
              <a:t>ER Diagram</a:t>
            </a:r>
            <a:r>
              <a:rPr lang="en-IN" dirty="0"/>
              <a:t>,Schema diagram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3941063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82312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4873752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Expected Benefits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82312"/>
            <a:ext cx="5074920" cy="65836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7223760" y="4873752"/>
            <a:ext cx="3977639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0">
                <a:solidFill>
                  <a:srgbClr val="1E2126"/>
                </a:solidFill>
                <a:latin typeface="Aptos"/>
              </a:defRPr>
            </a:pPr>
            <a:r>
              <a:t>Conclusion</a:t>
            </a:r>
          </a:p>
        </p:txBody>
      </p:sp>
      <p:pic>
        <p:nvPicPr>
          <p:cNvPr id="38" name="Image 0" descr="/home/workdir/artifacts/logos/aditya_logo_official.png">
            <a:extLst>
              <a:ext uri="{FF2B5EF4-FFF2-40B4-BE49-F238E27FC236}">
                <a16:creationId xmlns:a16="http://schemas.microsoft.com/office/drawing/2014/main" id="{71287D98-B211-1B5F-90A2-95CE8DE7A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47548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700" b="0">
                <a:solidFill>
                  <a:srgbClr val="646C76"/>
                </a:solidFill>
                <a:latin typeface="Aptos"/>
              </a:defRPr>
            </a:pPr>
            <a:r>
              <a:t>Manual library management makes it harder to maintain accurate records and find information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486400" cy="164592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Book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67128"/>
            <a:ext cx="5120640" cy="9601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Difficult to know which books are available, issued, or returned.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86400" cy="164592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28216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Issue &amp; Due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5120640" cy="9601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Manual entries can cause missed due dates and incorrect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5486400" cy="164592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Student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33087"/>
            <a:ext cx="512064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Finding and updating student borrowing information takes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64592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694176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Fine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7"/>
            <a:ext cx="512064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Fine details may be missed when returns are handled manually.</a:t>
            </a:r>
          </a:p>
        </p:txBody>
      </p:sp>
      <p:pic>
        <p:nvPicPr>
          <p:cNvPr id="21" name="Image 0" descr="/home/workdir/artifacts/logos/aditya_logo_official.png">
            <a:extLst>
              <a:ext uri="{FF2B5EF4-FFF2-40B4-BE49-F238E27FC236}">
                <a16:creationId xmlns:a16="http://schemas.microsoft.com/office/drawing/2014/main" id="{A2B470ED-5208-04B1-A923-2AD2BDD7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56692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0">
                <a:solidFill>
                  <a:srgbClr val="646C76"/>
                </a:solidFill>
                <a:latin typeface="Aptos"/>
              </a:defRPr>
            </a:pPr>
            <a:r>
              <a:t>Aim: To develop a simple database system that organizes library information and makes daily library activities easier to manage.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0136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0136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Store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Maintain book, author, category, student and librarian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80136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80136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Manage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Record the student, book, librarian, issue date and due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80136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80136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Manage Returns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Record return date and book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81304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1304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Maintain Fines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Store fine amount and payment status when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381304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81304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Reduce Manual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9768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Make records easier to search, update and maintain.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03320"/>
            <a:ext cx="3520440" cy="1645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2" y="3813048"/>
            <a:ext cx="54864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400" b="1">
                <a:solidFill>
                  <a:srgbClr val="2A6C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13048"/>
            <a:ext cx="25603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600" b="1">
                <a:solidFill>
                  <a:srgbClr val="162334"/>
                </a:solidFill>
                <a:latin typeface="Aptos"/>
              </a:defRPr>
            </a:pPr>
            <a:r>
              <a:t>Improve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297680"/>
            <a:ext cx="3154680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300" b="0">
                <a:solidFill>
                  <a:srgbClr val="1E2126"/>
                </a:solidFill>
                <a:latin typeface="Aptos"/>
              </a:defRPr>
            </a:pPr>
            <a:r>
              <a:t>Keep library information organized and consistent.</a:t>
            </a:r>
          </a:p>
        </p:txBody>
      </p:sp>
      <p:pic>
        <p:nvPicPr>
          <p:cNvPr id="33" name="Image 0" descr="/home/workdir/artifacts/logos/aditya_logo_official.png">
            <a:extLst>
              <a:ext uri="{FF2B5EF4-FFF2-40B4-BE49-F238E27FC236}">
                <a16:creationId xmlns:a16="http://schemas.microsoft.com/office/drawing/2014/main" id="{392317B6-68CC-FEC5-08B5-9C05CD71E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FB3E1-6D1A-E8E0-06ED-9B8139CB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233148"/>
            <a:ext cx="5440680" cy="32008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END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57216"/>
            <a:ext cx="3474720" cy="182880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685232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Librarian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24144"/>
            <a:ext cx="3108960" cy="1143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Main user. Manages books, students, issue/return records and fines.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557216"/>
            <a:ext cx="3474720" cy="182880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2685232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124144"/>
            <a:ext cx="3108960" cy="11430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500" b="0">
                <a:solidFill>
                  <a:srgbClr val="1E2126"/>
                </a:solidFill>
                <a:latin typeface="Aptos"/>
              </a:defRPr>
            </a:pPr>
            <a:r>
              <a:t>Uses the library to borrow and return books and check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557216"/>
            <a:ext cx="3840480" cy="1828800"/>
          </a:xfrm>
          <a:prstGeom prst="roundRect">
            <a:avLst/>
          </a:prstGeom>
          <a:solidFill>
            <a:srgbClr val="FDF5EB"/>
          </a:solidFill>
          <a:ln w="15240">
            <a:solidFill>
              <a:srgbClr val="DE8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2685232"/>
            <a:ext cx="34747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Database Administrator / Project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124144"/>
            <a:ext cx="3474720" cy="11430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t>Maintains the database structure and ensures records remain organized.</a:t>
            </a:r>
          </a:p>
        </p:txBody>
      </p:sp>
      <p:pic>
        <p:nvPicPr>
          <p:cNvPr id="23" name="Image 0" descr="/home/workdir/artifacts/logos/aditya_logo_official.png">
            <a:extLst>
              <a:ext uri="{FF2B5EF4-FFF2-40B4-BE49-F238E27FC236}">
                <a16:creationId xmlns:a16="http://schemas.microsoft.com/office/drawing/2014/main" id="{601166AF-BCA2-CB06-7FBB-9DFD7A38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171AF-D65F-79FF-44AE-96893A54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D759A1-9C58-D96E-B1CD-D71D7AFC3F9A}"/>
              </a:ext>
            </a:extLst>
          </p:cNvPr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CF65E-101A-03C6-F50F-74617B7E544B}"/>
              </a:ext>
            </a:extLst>
          </p:cNvPr>
          <p:cNvSpPr txBox="1"/>
          <p:nvPr/>
        </p:nvSpPr>
        <p:spPr>
          <a:xfrm>
            <a:off x="3383280" y="233148"/>
            <a:ext cx="5440680" cy="32008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BA60A-381D-C624-F76E-50779C6D429E}"/>
              </a:ext>
            </a:extLst>
          </p:cNvPr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151D0-0CD9-33EB-8A78-56C1FF9AB0A1}"/>
              </a:ext>
            </a:extLst>
          </p:cNvPr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52DBB6-E545-E05B-C5CB-361795E33158}"/>
              </a:ext>
            </a:extLst>
          </p:cNvPr>
          <p:cNvSpPr/>
          <p:nvPr/>
        </p:nvSpPr>
        <p:spPr>
          <a:xfrm>
            <a:off x="502920" y="2281428"/>
            <a:ext cx="5486400" cy="242316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D8D16-AB76-1DB2-5D70-F1D837A5D158}"/>
              </a:ext>
            </a:extLst>
          </p:cNvPr>
          <p:cNvSpPr txBox="1"/>
          <p:nvPr/>
        </p:nvSpPr>
        <p:spPr>
          <a:xfrm>
            <a:off x="685800" y="2409444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F715EB-DBCC-DF2B-1BE0-A181AA023793}"/>
              </a:ext>
            </a:extLst>
          </p:cNvPr>
          <p:cNvSpPr txBox="1"/>
          <p:nvPr/>
        </p:nvSpPr>
        <p:spPr>
          <a:xfrm>
            <a:off x="685800" y="2848356"/>
            <a:ext cx="5120640" cy="11510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rPr dirty="0"/>
              <a:t> Add and manage book details</a:t>
            </a:r>
            <a:br>
              <a:rPr dirty="0"/>
            </a:br>
            <a:r>
              <a:rPr dirty="0"/>
              <a:t>Manage author and category details</a:t>
            </a:r>
            <a:br>
              <a:rPr dirty="0"/>
            </a:br>
            <a:r>
              <a:rPr dirty="0"/>
              <a:t> Manage student and librarian details</a:t>
            </a:r>
            <a:br>
              <a:rPr dirty="0"/>
            </a:br>
            <a:r>
              <a:rPr dirty="0"/>
              <a:t> Record book issue and due date</a:t>
            </a:r>
            <a:br>
              <a:rPr dirty="0"/>
            </a:br>
            <a:r>
              <a:rPr dirty="0"/>
              <a:t> Record returns and fines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73646FA-C50A-2044-CA1D-8301D6998B82}"/>
              </a:ext>
            </a:extLst>
          </p:cNvPr>
          <p:cNvSpPr/>
          <p:nvPr/>
        </p:nvSpPr>
        <p:spPr>
          <a:xfrm>
            <a:off x="6217920" y="2281428"/>
            <a:ext cx="54406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FDD705-6750-8199-D625-A5B04F7BE470}"/>
              </a:ext>
            </a:extLst>
          </p:cNvPr>
          <p:cNvSpPr txBox="1"/>
          <p:nvPr/>
        </p:nvSpPr>
        <p:spPr>
          <a:xfrm>
            <a:off x="6400800" y="2409444"/>
            <a:ext cx="50749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DA629-364F-62C6-41DD-8509E31760EF}"/>
              </a:ext>
            </a:extLst>
          </p:cNvPr>
          <p:cNvSpPr txBox="1"/>
          <p:nvPr/>
        </p:nvSpPr>
        <p:spPr>
          <a:xfrm>
            <a:off x="6400800" y="2848356"/>
            <a:ext cx="5074920" cy="11510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400" b="0">
                <a:solidFill>
                  <a:srgbClr val="1E2126"/>
                </a:solidFill>
                <a:latin typeface="Aptos"/>
              </a:defRPr>
            </a:pPr>
            <a:r>
              <a:rPr dirty="0"/>
              <a:t> Easy to use</a:t>
            </a:r>
            <a:br>
              <a:rPr dirty="0"/>
            </a:br>
            <a:r>
              <a:rPr dirty="0"/>
              <a:t> Accurate and reliable</a:t>
            </a:r>
            <a:br>
              <a:rPr dirty="0"/>
            </a:br>
            <a:r>
              <a:rPr dirty="0"/>
              <a:t> Quick information retrieval</a:t>
            </a:r>
            <a:br>
              <a:rPr dirty="0"/>
            </a:br>
            <a:r>
              <a:rPr dirty="0"/>
              <a:t>Secure data</a:t>
            </a:r>
            <a:br>
              <a:rPr dirty="0"/>
            </a:br>
            <a:r>
              <a:rPr dirty="0"/>
              <a:t> Easy to maintain</a:t>
            </a:r>
          </a:p>
        </p:txBody>
      </p:sp>
      <p:pic>
        <p:nvPicPr>
          <p:cNvPr id="23" name="Image 0" descr="/home/workdir/artifacts/logos/aditya_logo_official.png">
            <a:extLst>
              <a:ext uri="{FF2B5EF4-FFF2-40B4-BE49-F238E27FC236}">
                <a16:creationId xmlns:a16="http://schemas.microsoft.com/office/drawing/2014/main" id="{2EFF5FC0-7504-9E7D-83A5-CE40F64C3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52047-8B00-DB91-D2F2-7FB0D59C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ENTITIES &amp;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120640" cy="38404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Author_ID</a:t>
            </a:r>
            <a:r>
              <a:rPr dirty="0"/>
              <a:t> (PK)</a:t>
            </a:r>
            <a:br>
              <a:rPr dirty="0"/>
            </a:br>
            <a:r>
              <a:rPr dirty="0" err="1"/>
              <a:t>Author_Name</a:t>
            </a:r>
            <a:r>
              <a:rPr dirty="0"/>
              <a:t>  Country </a:t>
            </a:r>
            <a:r>
              <a:rPr lang="en-IN" dirty="0"/>
              <a:t> </a:t>
            </a:r>
            <a:r>
              <a:rPr dirty="0"/>
              <a:t>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32688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060704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7"/>
            <a:ext cx="5120640" cy="38404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Book_ID</a:t>
            </a:r>
            <a:r>
              <a:rPr dirty="0"/>
              <a:t> (PK)</a:t>
            </a:r>
            <a:br>
              <a:rPr dirty="0"/>
            </a:br>
            <a:r>
              <a:rPr dirty="0"/>
              <a:t>Title  ISBN </a:t>
            </a:r>
            <a:r>
              <a:rPr dirty="0" err="1"/>
              <a:t>Publication_Year</a:t>
            </a:r>
            <a:r>
              <a:rPr dirty="0"/>
              <a:t>  Availability</a:t>
            </a:r>
            <a:br>
              <a:rPr dirty="0"/>
            </a:br>
            <a:r>
              <a:rPr dirty="0" err="1"/>
              <a:t>Author_ID</a:t>
            </a:r>
            <a:r>
              <a:rPr dirty="0"/>
              <a:t> (FK) • </a:t>
            </a:r>
            <a:r>
              <a:rPr dirty="0" err="1"/>
              <a:t>Category_ID</a:t>
            </a:r>
            <a:r>
              <a:rPr dirty="0"/>
              <a:t> (FK)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31136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59152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98064"/>
            <a:ext cx="5120640" cy="38404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Category_ID</a:t>
            </a:r>
            <a:r>
              <a:rPr dirty="0"/>
              <a:t> (PK)</a:t>
            </a:r>
            <a:br>
              <a:rPr dirty="0"/>
            </a:br>
            <a:r>
              <a:rPr dirty="0" err="1"/>
              <a:t>Category_Name</a:t>
            </a:r>
            <a:r>
              <a:rPr dirty="0"/>
              <a:t>  Description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31136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359152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98064"/>
            <a:ext cx="5120640" cy="38404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Student_ID</a:t>
            </a:r>
            <a:r>
              <a:rPr dirty="0"/>
              <a:t> (PK)</a:t>
            </a:r>
            <a:br>
              <a:rPr dirty="0"/>
            </a:br>
            <a:r>
              <a:rPr dirty="0" err="1"/>
              <a:t>Student_Name</a:t>
            </a:r>
            <a:r>
              <a:rPr dirty="0"/>
              <a:t>  Branch Year  Phone 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9584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LIBRARIAN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1"/>
            <a:ext cx="5120640" cy="384047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Librarian_ID</a:t>
            </a:r>
            <a:r>
              <a:rPr dirty="0"/>
              <a:t> (PK)</a:t>
            </a:r>
            <a:br>
              <a:rPr dirty="0"/>
            </a:br>
            <a:r>
              <a:rPr dirty="0"/>
              <a:t>Name  Phone  Email  Shift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29584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ISSUE_BOOK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5560" y="3918204"/>
            <a:ext cx="5120640" cy="6278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Issue_ID</a:t>
            </a:r>
            <a:r>
              <a:rPr dirty="0"/>
              <a:t> (PK)</a:t>
            </a:r>
            <a:br>
              <a:rPr dirty="0"/>
            </a:br>
            <a:r>
              <a:rPr dirty="0" err="1"/>
              <a:t>Issue_Date</a:t>
            </a:r>
            <a:r>
              <a:rPr dirty="0"/>
              <a:t> </a:t>
            </a:r>
            <a:r>
              <a:rPr dirty="0" err="1"/>
              <a:t>Due_Date</a:t>
            </a:r>
            <a:br>
              <a:rPr dirty="0"/>
            </a:br>
            <a:r>
              <a:rPr dirty="0" err="1"/>
              <a:t>Student_ID</a:t>
            </a:r>
            <a:r>
              <a:rPr dirty="0"/>
              <a:t> (FK) </a:t>
            </a:r>
            <a:r>
              <a:rPr dirty="0" err="1"/>
              <a:t>Book_ID</a:t>
            </a:r>
            <a:r>
              <a:rPr dirty="0"/>
              <a:t> (FK)  </a:t>
            </a:r>
            <a:r>
              <a:rPr dirty="0" err="1"/>
              <a:t>Librarian_ID</a:t>
            </a:r>
            <a:r>
              <a:rPr dirty="0"/>
              <a:t> (FK)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28031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56047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RETURN_BOOK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59"/>
            <a:ext cx="512064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 err="1"/>
              <a:t>Return_ID</a:t>
            </a:r>
            <a:r>
              <a:rPr dirty="0"/>
              <a:t> (PK)</a:t>
            </a:r>
            <a:br>
              <a:rPr dirty="0"/>
            </a:br>
            <a:r>
              <a:rPr dirty="0" err="1"/>
              <a:t>Return_Date</a:t>
            </a:r>
            <a:r>
              <a:rPr dirty="0"/>
              <a:t>  </a:t>
            </a:r>
            <a:r>
              <a:rPr dirty="0" err="1"/>
              <a:t>Book_Condition</a:t>
            </a:r>
            <a:r>
              <a:rPr dirty="0"/>
              <a:t>  </a:t>
            </a:r>
            <a:r>
              <a:rPr dirty="0" err="1"/>
              <a:t>Issue_ID</a:t>
            </a:r>
            <a:r>
              <a:rPr dirty="0"/>
              <a:t> (FK)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28031"/>
            <a:ext cx="5486400" cy="1069848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956047"/>
            <a:ext cx="5120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59"/>
            <a:ext cx="512064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200" b="0">
                <a:solidFill>
                  <a:srgbClr val="1E2126"/>
                </a:solidFill>
                <a:latin typeface="Aptos"/>
              </a:defRPr>
            </a:pPr>
            <a:r>
              <a:rPr dirty="0"/>
              <a:t>Fine_</a:t>
            </a:r>
            <a:r>
              <a:rPr lang="en-IN" dirty="0"/>
              <a:t>student_</a:t>
            </a:r>
            <a:r>
              <a:rPr dirty="0"/>
              <a:t>ID (PK)</a:t>
            </a:r>
            <a:br>
              <a:rPr dirty="0"/>
            </a:br>
            <a:r>
              <a:rPr dirty="0"/>
              <a:t>Amount  </a:t>
            </a:r>
            <a:r>
              <a:rPr dirty="0" err="1"/>
              <a:t>Payment_Status</a:t>
            </a:r>
            <a:r>
              <a:rPr dirty="0"/>
              <a:t>  </a:t>
            </a:r>
            <a:r>
              <a:rPr dirty="0" err="1"/>
              <a:t>Return_ID</a:t>
            </a:r>
            <a:r>
              <a:rPr dirty="0"/>
              <a:t> (FK)</a:t>
            </a:r>
          </a:p>
        </p:txBody>
      </p:sp>
      <p:pic>
        <p:nvPicPr>
          <p:cNvPr id="32" name="Image 0" descr="/home/workdir/artifacts/logos/aditya_logo_official.png">
            <a:extLst>
              <a:ext uri="{FF2B5EF4-FFF2-40B4-BE49-F238E27FC236}">
                <a16:creationId xmlns:a16="http://schemas.microsoft.com/office/drawing/2014/main" id="{33181F4F-B2DC-F5E2-5B6B-0F57FC71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FE9D-A250-1470-24D7-C685BD4E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RELATIONSHIPS &amp; CARDINALITIES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621792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060704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060704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060704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60704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060704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060704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792224"/>
            <a:ext cx="11018520" cy="621792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1865376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865376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865376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BELONGS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865376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65376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65376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N 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596896"/>
            <a:ext cx="11018520" cy="621792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670048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670048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670048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BORROWS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70048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70048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ISSUE_BOOK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70048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401568"/>
            <a:ext cx="11018520" cy="621792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474720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ISSUE_BOOK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474720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474720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APPROVED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474720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474720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LIBRARIAN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474720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N :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206240"/>
            <a:ext cx="11018520" cy="621792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279392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ISSUE_BOOK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279392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279392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RETURNED 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279392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79392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RETURN_BOOK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79392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1 :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010912"/>
            <a:ext cx="11018520" cy="621792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084064"/>
            <a:ext cx="219456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RETURN_BOOK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5084064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5084064"/>
            <a:ext cx="237744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500" b="1">
                <a:solidFill>
                  <a:srgbClr val="1E2126"/>
                </a:solidFill>
                <a:latin typeface="Aptos"/>
              </a:defRPr>
            </a:pPr>
            <a:r>
              <a:t>GENERATES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084064"/>
            <a:ext cx="5029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084064"/>
            <a:ext cx="256032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162334"/>
                </a:solidFill>
                <a:latin typeface="Aptos"/>
              </a:defRPr>
            </a:pPr>
            <a:r>
              <a:t>FINE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084064"/>
            <a:ext cx="173736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2A6CB4"/>
                </a:solidFill>
                <a:latin typeface="Aptos"/>
              </a:defRPr>
            </a:pPr>
            <a:r>
              <a:t>1 : N</a:t>
            </a:r>
          </a:p>
        </p:txBody>
      </p:sp>
      <p:pic>
        <p:nvPicPr>
          <p:cNvPr id="50" name="Image 0" descr="/home/workdir/artifacts/logos/aditya_logo_official.png">
            <a:extLst>
              <a:ext uri="{FF2B5EF4-FFF2-40B4-BE49-F238E27FC236}">
                <a16:creationId xmlns:a16="http://schemas.microsoft.com/office/drawing/2014/main" id="{C97DD30C-0E23-6811-7300-498FA129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F0086-9A70-5850-1D36-690EB3A6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4166D-9C0B-7CF6-13B5-184523BB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E8B25-F66A-AE03-6198-DA4C9983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6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E137-4505-25F7-88B0-7722B77F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466344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"/>
              <a:t>SCHEMA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9" name="Image 0" descr="/home/workdir/artifacts/logos/aditya_logo_official.png">
            <a:extLst>
              <a:ext uri="{FF2B5EF4-FFF2-40B4-BE49-F238E27FC236}">
                <a16:creationId xmlns:a16="http://schemas.microsoft.com/office/drawing/2014/main" id="{2F0CE3BA-337F-2B3F-95C5-E6665C6F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31622-3EDB-5240-9C46-A32F424C9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75" y="763571"/>
            <a:ext cx="11482493" cy="603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5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E137-4505-25F7-88B0-7722B77F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"/>
              <a:t>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9" name="Image 0" descr="/home/workdir/artifacts/logos/aditya_logo_official.png">
            <a:extLst>
              <a:ext uri="{FF2B5EF4-FFF2-40B4-BE49-F238E27FC236}">
                <a16:creationId xmlns:a16="http://schemas.microsoft.com/office/drawing/2014/main" id="{2F0CE3BA-337F-2B3F-95C5-E6665C6F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  <p:pic>
        <p:nvPicPr>
          <p:cNvPr id="8" name="Picture 7" descr="This diagram illustrates the relationships between various elements in a library management system, including books, authors, categories, and users.&#10;&#10;AI-generated content may be incorrect.">
            <a:extLst>
              <a:ext uri="{FF2B5EF4-FFF2-40B4-BE49-F238E27FC236}">
                <a16:creationId xmlns:a16="http://schemas.microsoft.com/office/drawing/2014/main" id="{9B7876F3-84DB-A017-A7F0-97741707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" y="808567"/>
            <a:ext cx="11582400" cy="590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5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2286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653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108960" y="137160"/>
            <a:ext cx="5943600" cy="384048"/>
          </a:xfrm>
          <a:prstGeom prst="roundRect">
            <a:avLst>
              <a:gd name="adj" fmla="val 19048"/>
            </a:avLst>
          </a:prstGeom>
          <a:solidFill>
            <a:srgbClr val="162334"/>
          </a:solidFill>
          <a:ln/>
        </p:spPr>
      </p:sp>
      <p:sp>
        <p:nvSpPr>
          <p:cNvPr id="6" name="Text 3"/>
          <p:cNvSpPr/>
          <p:nvPr/>
        </p:nvSpPr>
        <p:spPr>
          <a:xfrm>
            <a:off x="3108960" y="1371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— AUTHOR · CATEGORY · BOOK · STUDENT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6082" y="621792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pic>
        <p:nvPicPr>
          <p:cNvPr id="8" name="Image 1" descr="/home/workdir/artifacts/tbl_auth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877824"/>
            <a:ext cx="5678424" cy="25923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63056" y="621792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pic>
        <p:nvPicPr>
          <p:cNvPr id="10" name="Image 2" descr="/home/workdir/artifacts/tbl_category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63056" y="877824"/>
            <a:ext cx="5678424" cy="25923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040" y="3579876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pic>
        <p:nvPicPr>
          <p:cNvPr id="12" name="Image 3" descr="/home/workdir/artifacts/tbl_book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" y="3835908"/>
            <a:ext cx="5678424" cy="25923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3056" y="3579876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pic>
        <p:nvPicPr>
          <p:cNvPr id="14" name="Image 4" descr="/home/workdir/artifacts/tbl_studen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63056" y="3835908"/>
            <a:ext cx="5678424" cy="25923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2286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653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108960" y="137160"/>
            <a:ext cx="5943600" cy="384048"/>
          </a:xfrm>
          <a:prstGeom prst="roundRect">
            <a:avLst>
              <a:gd name="adj" fmla="val 19048"/>
            </a:avLst>
          </a:prstGeom>
          <a:solidFill>
            <a:srgbClr val="162334"/>
          </a:solidFill>
          <a:ln/>
        </p:spPr>
      </p:sp>
      <p:sp>
        <p:nvSpPr>
          <p:cNvPr id="6" name="Text 3"/>
          <p:cNvSpPr/>
          <p:nvPr/>
        </p:nvSpPr>
        <p:spPr>
          <a:xfrm>
            <a:off x="3108960" y="1371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— LIBRARIAN · ISSUE · RETURN · FINE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21792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00" dirty="0"/>
          </a:p>
        </p:txBody>
      </p:sp>
      <p:pic>
        <p:nvPicPr>
          <p:cNvPr id="8" name="Image 1" descr="/home/workdir/artifacts/tbl_librari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877824"/>
            <a:ext cx="5678424" cy="25923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63056" y="621792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ISSUE_BOOK</a:t>
            </a:r>
            <a:endParaRPr lang="en-US" sz="1200" dirty="0"/>
          </a:p>
        </p:txBody>
      </p:sp>
      <p:pic>
        <p:nvPicPr>
          <p:cNvPr id="10" name="Image 2" descr="/home/workdir/artifacts/tbl_issu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63056" y="877824"/>
            <a:ext cx="5678424" cy="25923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040" y="3579876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RETURN_BOOK</a:t>
            </a:r>
            <a:endParaRPr lang="en-US" sz="1200" dirty="0"/>
          </a:p>
        </p:txBody>
      </p:sp>
      <p:pic>
        <p:nvPicPr>
          <p:cNvPr id="12" name="Image 3" descr="/home/workdir/artifacts/tbl_retur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" y="3835908"/>
            <a:ext cx="5678424" cy="25923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3056" y="3579876"/>
            <a:ext cx="5678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200" dirty="0"/>
          </a:p>
        </p:txBody>
      </p:sp>
      <p:pic>
        <p:nvPicPr>
          <p:cNvPr id="14" name="Image 4" descr="/home/workdir/artifacts/tbl_fin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63056" y="3835908"/>
            <a:ext cx="5678424" cy="2592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1–4. Author, Category, Student &amp; Librarian → Book / Issue_Book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4800" y="1097280"/>
            <a:ext cx="5730240" cy="5059680"/>
          </a:xfrm>
          <a:prstGeom prst="roundRect">
            <a:avLst>
              <a:gd name="adj" fmla="val 1928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" y="1097280"/>
            <a:ext cx="5730240" cy="463296"/>
          </a:xfrm>
          <a:prstGeom prst="roundRect">
            <a:avLst>
              <a:gd name="adj" fmla="val 21053"/>
            </a:avLst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304800" y="1341120"/>
            <a:ext cx="573024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51104" y="1158240"/>
            <a:ext cx="543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Author 1 — Writes — N Book   |   2. Book N — Belongs to — 1 Category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4" y="1645920"/>
            <a:ext cx="5437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Author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Author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Author_Name VARCHAR(100)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Category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Category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Category_Name VARCHAR(100)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Book Table (FK → Author, Category)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VARCHAR(200),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 VARCHAR(20),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Author_ID INT,     -- FK → Author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 INT,   -- FK → Category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(Author_ID)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Author(Author_ID),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(Category_ID)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Category(Category_ID)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730240" cy="5059680"/>
          </a:xfrm>
          <a:prstGeom prst="roundRect">
            <a:avLst>
              <a:gd name="adj" fmla="val 1928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097280"/>
            <a:ext cx="5730240" cy="463296"/>
          </a:xfrm>
          <a:prstGeom prst="roundRect">
            <a:avLst>
              <a:gd name="adj" fmla="val 21053"/>
            </a:avLst>
          </a:prstGeom>
          <a:solidFill>
            <a:srgbClr val="2E86AB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341120"/>
            <a:ext cx="573024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158240"/>
            <a:ext cx="543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Student 1 — Borrows — N Issue_Book   |   4. Issue_Book N — Approved by — 1 Librarian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4224" y="1645920"/>
            <a:ext cx="5437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Student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Student_Name VARCHAR(100),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 VARCHAR(50),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Contact VARCHAR(15)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Librarian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Librarian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Librarian_ID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Librarian_Name VARCHAR(100),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Contact VARCHAR(15)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Issue_Book Table (FK → Student, Book, Librarian)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Issue_Book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Issue_Date DATE,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Due_Date DATE,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INT,    -- FK → Student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Book_ID INT,       -- FK → Book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Librarian_ID INT,  -- FK → Librarian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(Student_ID)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Student(Student_ID),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(Book_ID)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Book(Book_ID),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(Librarian_ID)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Librarian(Librarian_ID)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437376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Library Management System — Foreign Key Relations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705600" y="643737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Vydehi, Asst. Professor, CSE Dept.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11216640" y="643737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5–6. Issue_Book → Return_Book → Fine   &amp;   Relationship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4800" y="1097280"/>
            <a:ext cx="5730240" cy="432816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" y="1097280"/>
            <a:ext cx="5730240" cy="463296"/>
          </a:xfrm>
          <a:prstGeom prst="roundRect">
            <a:avLst>
              <a:gd name="adj" fmla="val 21053"/>
            </a:avLst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304800" y="1341120"/>
            <a:ext cx="573024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51104" y="1158240"/>
            <a:ext cx="543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Issue_Book 1 — Returned as — N Return_Book   |   6. Return_Book 1 — Generates — N Fine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4" y="1645920"/>
            <a:ext cx="54376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Return_Book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Return_Book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Return_Date DATE,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Issue_ID INT,   -- FK → Issue_Book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(Issue_ID)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Issue_Book(Issue_ID)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Fine Table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Fine (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Fine_ID INT PRIMARY KEY,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Fine_Amount DECIMAL(10,2),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Fine_Date DATE,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Return_ID INT,  -- FK → Return_Book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(Return_ID)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Return_Book(Return_ID)</a:t>
            </a:r>
            <a:endParaRPr lang="en-US" sz="1200" dirty="0"/>
          </a:p>
          <a:p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730240" cy="432816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097280"/>
            <a:ext cx="5730240" cy="463296"/>
          </a:xfrm>
          <a:prstGeom prst="roundRect">
            <a:avLst>
              <a:gd name="adj" fmla="val 21053"/>
            </a:avLst>
          </a:prstGeom>
          <a:solidFill>
            <a:srgbClr val="2E86AB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341120"/>
            <a:ext cx="5730240" cy="21945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158240"/>
            <a:ext cx="543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Summary (Cardinality)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400800" y="1706880"/>
          <a:ext cx="5364480" cy="3454400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Foreign Key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 → 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Book.Author_ID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→ 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Book.Category_ID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→ Issue_Book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Issue_Book.Student_ID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Librarian → Issue_Book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Issue_Book.Librarian_ID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Issue_Book → Return_Book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Return_Book.Issue_ID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Return_Book → Fine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Fine.Return_ID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04800" y="5547360"/>
            <a:ext cx="11643360" cy="670560"/>
          </a:xfrm>
          <a:prstGeom prst="roundRect">
            <a:avLst>
              <a:gd name="adj" fmla="val 10909"/>
            </a:avLst>
          </a:prstGeom>
          <a:solidFill>
            <a:srgbClr val="12263A"/>
          </a:solidFill>
          <a:ln/>
        </p:spPr>
      </p:sp>
      <p:sp>
        <p:nvSpPr>
          <p:cNvPr id="15" name="Text 12"/>
          <p:cNvSpPr/>
          <p:nvPr/>
        </p:nvSpPr>
        <p:spPr>
          <a:xfrm>
            <a:off x="487680" y="5632704"/>
            <a:ext cx="1127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parent tables first (Author, Category, Student, Librarian), then Book → Issue_Book → Return_Book → Fine. All six FKs implement the ER diagram relationships.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365760" y="6437376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Library Management System — Foreign Key Relations</a:t>
            </a:r>
            <a:endParaRPr lang="en-US" sz="1333" dirty="0"/>
          </a:p>
        </p:txBody>
      </p:sp>
      <p:sp>
        <p:nvSpPr>
          <p:cNvPr id="17" name="Text 14"/>
          <p:cNvSpPr/>
          <p:nvPr/>
        </p:nvSpPr>
        <p:spPr>
          <a:xfrm>
            <a:off x="6705600" y="643737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Vydehi, Asst. Professor, CSE Dept.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11216640" y="643737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2286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926080" y="137160"/>
            <a:ext cx="6309360" cy="384048"/>
          </a:xfrm>
          <a:prstGeom prst="roundRect">
            <a:avLst>
              <a:gd name="adj" fmla="val 19048"/>
            </a:avLst>
          </a:prstGeom>
          <a:solidFill>
            <a:srgbClr val="162334"/>
          </a:solidFill>
          <a:ln/>
        </p:spPr>
      </p:sp>
      <p:sp>
        <p:nvSpPr>
          <p:cNvPr id="6" name="Text 3"/>
          <p:cNvSpPr/>
          <p:nvPr/>
        </p:nvSpPr>
        <p:spPr>
          <a:xfrm>
            <a:off x="2926080" y="1371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UNNORMALIZED → 1NF → 2NF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217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Remove repeating groups and partial dependencies using the Library schema.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960120"/>
            <a:ext cx="5715000" cy="5349240"/>
          </a:xfrm>
          <a:prstGeom prst="roundRect">
            <a:avLst>
              <a:gd name="adj" fmla="val 170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960120"/>
            <a:ext cx="571500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875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—  Unnormalized / Weak 1NF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463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everything lived in one flat table: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745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Issue_ID | Student_Name | Branch | Book_Title | Author_Name | Category | Librarian | Fine_Amt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3774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Rahul Kumar | CSE | Five Point Someone | Chetan Bhagat | Fiction | Ramesh |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 Priya Sharma | ECE | Immortals of Meluha | Amish | Fantasy | Sita |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Author &amp; Category repeated for every issue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33756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357530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Category, Student details copy-pasted on every issue row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399592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423367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 depends only on Book_ID, not on full composite key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465429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48920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author country → must edit many rows; risk of inconsistency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531266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anomaly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555040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store a new author until a book is issued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17920" y="960120"/>
            <a:ext cx="5623560" cy="5349240"/>
          </a:xfrm>
          <a:prstGeom prst="roundRect">
            <a:avLst>
              <a:gd name="adj" fmla="val 17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960120"/>
            <a:ext cx="562356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98755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—  Reach 2NF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14630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tables so every non-key attribute depends on the whole PK: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19202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1920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75320" y="19202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(PK), Author_Name, Country, Email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257860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0" y="25786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CATEGORY8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75320" y="257860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(PK), Category_Name, Description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0" y="3236976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3236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BOOK8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75320" y="32369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(PK), Title, ISBN, Year, Availability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FK → Author_ID, Category_ID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0" y="3895344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0" y="38953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75320" y="389534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(PK), Name, Branch, Year, Phone, Email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400800" y="4553712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0" y="4553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LIBRARIAN8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275320" y="45537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Librarian_ID (PK), Name, Phone, Email, Shift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0" y="52120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62334"/>
          </a:solidFill>
          <a:ln/>
        </p:spPr>
      </p:sp>
      <p:sp>
        <p:nvSpPr>
          <p:cNvPr id="43" name="Text 40"/>
          <p:cNvSpPr/>
          <p:nvPr/>
        </p:nvSpPr>
        <p:spPr>
          <a:xfrm>
            <a:off x="6400800" y="52120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ISSUE_BOOK8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275320" y="52120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Issue_ID (PK), Issue_Date, Due_Date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FK → Student, Book, Librarian</a:t>
            </a: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C89E142-9A98-3837-AD9B-883272F6E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22860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926080" y="137160"/>
            <a:ext cx="6309360" cy="384048"/>
          </a:xfrm>
          <a:prstGeom prst="roundRect">
            <a:avLst>
              <a:gd name="adj" fmla="val 19048"/>
            </a:avLst>
          </a:prstGeom>
          <a:solidFill>
            <a:srgbClr val="162334"/>
          </a:solidFill>
          <a:ln/>
        </p:spPr>
      </p:sp>
      <p:sp>
        <p:nvSpPr>
          <p:cNvPr id="6" name="Text 3"/>
          <p:cNvSpPr/>
          <p:nvPr/>
        </p:nvSpPr>
        <p:spPr>
          <a:xfrm>
            <a:off x="2926080" y="1371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2NF → 3NF (FINAL SCHEMA)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217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transitive dependencies so non-key attributes depend only on the Primary Key.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96012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960120"/>
            <a:ext cx="379476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987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kept fine details inside ISSUE: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828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Issue_ID → Return_Date → Amount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Issue_ID → Student_ID → Branch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514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depends on Return, not directly on Issue_ID.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depends on Student, not on Issue_ID.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update / insert anomalies again.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rule: non-key attr must depend only on the PK (no A→B→C).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51960" y="96012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960120"/>
            <a:ext cx="379476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987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ACHIEVED 3NF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89120" y="1508760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7"/>
          <p:cNvSpPr/>
          <p:nvPr/>
        </p:nvSpPr>
        <p:spPr>
          <a:xfrm>
            <a:off x="438912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RETURN_BOOK8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00600" y="1719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 &amp; Book_Condition depend only on Return_ID / Issue_ID (1:1)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0" y="2148840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0060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&amp; Payment_Status depend only on Return_ID — not on Student or Book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89120" y="2788920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8" name="Text 25"/>
          <p:cNvSpPr/>
          <p:nvPr/>
        </p:nvSpPr>
        <p:spPr>
          <a:xfrm>
            <a:off x="438912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0600" y="2743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Title in ISSUE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00600" y="2999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 lives only in BOOK8; ISSUE stores Book_ID (FK)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89120" y="3429000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29"/>
          <p:cNvSpPr/>
          <p:nvPr/>
        </p:nvSpPr>
        <p:spPr>
          <a:xfrm>
            <a:off x="438912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00600" y="3383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 in ISSUE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800600" y="3639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Branch lives only in STUDENT8; ISSUE stores Student_ID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83880" y="96012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8FA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960120"/>
            <a:ext cx="3657600" cy="384048"/>
          </a:xfrm>
          <a:prstGeom prst="rect">
            <a:avLst/>
          </a:prstGeom>
          <a:solidFill>
            <a:srgbClr val="162334"/>
          </a:solidFill>
          <a:ln/>
        </p:spPr>
      </p:sp>
      <p:sp>
        <p:nvSpPr>
          <p:cNvPr id="37" name="Text 34"/>
          <p:cNvSpPr/>
          <p:nvPr/>
        </p:nvSpPr>
        <p:spPr>
          <a:xfrm>
            <a:off x="8275320" y="987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3NF TABLES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366760" y="1508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39" name="Text 36"/>
          <p:cNvSpPr/>
          <p:nvPr/>
        </p:nvSpPr>
        <p:spPr>
          <a:xfrm>
            <a:off x="836676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AUTHOR8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366760" y="21031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41" name="Text 38"/>
          <p:cNvSpPr/>
          <p:nvPr/>
        </p:nvSpPr>
        <p:spPr>
          <a:xfrm>
            <a:off x="83667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CATEGORY8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366760" y="26974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43" name="Text 40"/>
          <p:cNvSpPr/>
          <p:nvPr/>
        </p:nvSpPr>
        <p:spPr>
          <a:xfrm>
            <a:off x="836676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BOOK8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366760" y="32918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45" name="Text 42"/>
          <p:cNvSpPr/>
          <p:nvPr/>
        </p:nvSpPr>
        <p:spPr>
          <a:xfrm>
            <a:off x="836676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STUDENT8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0058400" y="1508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47" name="Text 44"/>
          <p:cNvSpPr/>
          <p:nvPr/>
        </p:nvSpPr>
        <p:spPr>
          <a:xfrm>
            <a:off x="1005840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LIBRARIAN8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10058400" y="21031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49" name="Text 46"/>
          <p:cNvSpPr/>
          <p:nvPr/>
        </p:nvSpPr>
        <p:spPr>
          <a:xfrm>
            <a:off x="1005840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ISSUE_BOOK8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0058400" y="26974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51" name="Text 48"/>
          <p:cNvSpPr/>
          <p:nvPr/>
        </p:nvSpPr>
        <p:spPr>
          <a:xfrm>
            <a:off x="1005840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RETURN_BOOK8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0058400" y="32918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4"/>
          </a:solidFill>
          <a:ln/>
        </p:spPr>
      </p:sp>
      <p:sp>
        <p:nvSpPr>
          <p:cNvPr id="53" name="Text 50"/>
          <p:cNvSpPr/>
          <p:nvPr/>
        </p:nvSpPr>
        <p:spPr>
          <a:xfrm>
            <a:off x="100584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FINE8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320040" y="4389120"/>
            <a:ext cx="11521440" cy="192024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2920" y="45262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 IS IN 3NF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502920" y="4937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648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612648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columns only (no multi-valued fields)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3383280" y="4937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493008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3493008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— Book attrs depend on Book_ID alone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63640" y="4937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73368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6373368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 — Fine depends on Return_ID only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9144000" y="4937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253728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9253728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 · easy updates · consistent data · scalable</a:t>
            </a:r>
            <a:endParaRPr lang="en-US" sz="1200" dirty="0"/>
          </a:p>
        </p:txBody>
      </p:sp>
      <p:pic>
        <p:nvPicPr>
          <p:cNvPr id="69" name="Picture 68" descr="The image illustrates a data model for a university library, detailing the process of removing partial dependencies to achieve 2NF by separating many-to-many relationships into distinct tables.&#10;&#10;AI-generated content may be incorrect.">
            <a:extLst>
              <a:ext uri="{FF2B5EF4-FFF2-40B4-BE49-F238E27FC236}">
                <a16:creationId xmlns:a16="http://schemas.microsoft.com/office/drawing/2014/main" id="{2B14700F-110B-93D1-E943-1BE1507D0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E12FF-AAAE-0010-2166-CDA43759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30 September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D90FB0-FF50-B349-3EF6-3880E494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 descr="The image depicts a table illustrating the process of removing transitive dependencies in a database schema, showing how attributes are distributed among different tables to maintain the 3NF (Third Normal Form) condition.&#10;&#10;AI-generated content may be incorrect.">
            <a:extLst>
              <a:ext uri="{FF2B5EF4-FFF2-40B4-BE49-F238E27FC236}">
                <a16:creationId xmlns:a16="http://schemas.microsoft.com/office/drawing/2014/main" id="{48B5AA15-560E-567B-5810-9C7AEE06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5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infographic_flowchart_poster_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05" y="0"/>
            <a:ext cx="10684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46120" y="146304"/>
            <a:ext cx="5715000" cy="502920"/>
          </a:xfrm>
          <a:prstGeom prst="roundRect">
            <a:avLst/>
          </a:prstGeom>
          <a:solidFill>
            <a:srgbClr val="162334"/>
          </a:solidFill>
          <a:ln w="15240">
            <a:solidFill>
              <a:srgbClr val="16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73736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00800"/>
            <a:ext cx="292608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900" b="0">
                <a:solidFill>
                  <a:srgbClr val="646C76"/>
                </a:solidFill>
                <a:latin typeface="Aptos"/>
              </a:defRPr>
            </a:pPr>
            <a:r>
              <a:t>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r">
              <a:defRPr sz="900" b="0">
                <a:solidFill>
                  <a:srgbClr val="646C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800" b="0">
                <a:solidFill>
                  <a:srgbClr val="646C76"/>
                </a:solidFill>
                <a:latin typeface="Aptos"/>
              </a:defRPr>
            </a:pPr>
            <a:r>
              <a:t>The Library Management System provides a simple and organized way to manage library activities through a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137160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Centralized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95728"/>
            <a:ext cx="5029200" cy="6858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t>Books, users and transaction details are maintained in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94960" cy="137160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56816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Clear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95728"/>
            <a:ext cx="5029200" cy="6858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t>The ER and schema diagrams connect the library entities logically.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394960" cy="1371600"/>
          </a:xfrm>
          <a:prstGeom prst="roundRect">
            <a:avLst/>
          </a:prstGeom>
          <a:solidFill>
            <a:srgbClr val="EFF7FD"/>
          </a:solidFill>
          <a:ln w="15240">
            <a:solidFill>
              <a:srgbClr val="2A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02736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Efficient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41648"/>
            <a:ext cx="5029200" cy="685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t>Issue, return and fine activities become easier to track.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5394960" cy="137160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48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602736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defRPr sz="1700" b="1">
                <a:solidFill>
                  <a:srgbClr val="162334"/>
                </a:solidFill>
                <a:latin typeface="Aptos"/>
              </a:defRPr>
            </a:pPr>
            <a:r>
              <a:t>Future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685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defRPr sz="1400" b="0">
                <a:solidFill>
                  <a:srgbClr val="1E2126"/>
                </a:solidFill>
                <a:latin typeface="Aptos"/>
              </a:defRPr>
            </a:pPr>
            <a:r>
              <a:t>The database structure can be extended with additional features.</a:t>
            </a:r>
          </a:p>
        </p:txBody>
      </p:sp>
      <p:pic>
        <p:nvPicPr>
          <p:cNvPr id="23" name="Image 0" descr="/home/workdir/artifacts/logos/aditya_logo_official.png">
            <a:extLst>
              <a:ext uri="{FF2B5EF4-FFF2-40B4-BE49-F238E27FC236}">
                <a16:creationId xmlns:a16="http://schemas.microsoft.com/office/drawing/2014/main" id="{17493E98-8A09-65EE-35C2-C7995AA9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256032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C973A4-1487-BD68-ACB3-079AA687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164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1976</Words>
  <Application>Microsoft Office PowerPoint</Application>
  <PresentationFormat>Widescreen</PresentationFormat>
  <Paragraphs>356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ShopShield - Aditya University</dc:title>
  <dc:subject>PptxGenJS Presentation</dc:subject>
  <dc:creator>Team ShopShield</dc:creator>
  <cp:lastModifiedBy>akshai deepak</cp:lastModifiedBy>
  <cp:revision>13</cp:revision>
  <dcterms:created xsi:type="dcterms:W3CDTF">2026-08-08T09:04:41Z</dcterms:created>
  <dcterms:modified xsi:type="dcterms:W3CDTF">2026-09-30T04:32:54Z</dcterms:modified>
</cp:coreProperties>
</file>